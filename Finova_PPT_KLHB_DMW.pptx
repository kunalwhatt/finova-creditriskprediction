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0" r:id="rId14"/>
  </p:sldIdLst>
  <p:sldSz cx="14630400" cy="8229600"/>
  <p:notesSz cx="8229600" cy="14630400"/>
  <p:embeddedFontLst>
    <p:embeddedFont>
      <p:font typeface="DM Sans Semi Bold" pitchFamily="2" charset="77"/>
      <p:regular r:id="rId16"/>
    </p:embeddedFont>
    <p:embeddedFont>
      <p:font typeface="Inter Medium" panose="02000503000000020004" pitchFamily="2" charset="0"/>
      <p:regular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97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25"/>
    <p:restoredTop sz="94610"/>
  </p:normalViewPr>
  <p:slideViewPr>
    <p:cSldViewPr snapToGrid="0" snapToObjects="1">
      <p:cViewPr>
        <p:scale>
          <a:sx n="84" d="100"/>
          <a:sy n="84" d="100"/>
        </p:scale>
        <p:origin x="122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28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7303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Project Title: Credit Risk Prediction for Indian FinTech Lending Apps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en-US" sz="3600" b="1" dirty="0">
                <a:solidFill>
                  <a:srgbClr val="1C9770"/>
                </a:solidFill>
                <a:latin typeface="DM Sans Semi Bold" pitchFamily="34" charset="0"/>
              </a:rPr>
              <a:t>PROJECT REVIEW -1 </a:t>
            </a:r>
          </a:p>
          <a:p>
            <a:pPr marL="0" indent="0" algn="ctr">
              <a:lnSpc>
                <a:spcPts val="5550"/>
              </a:lnSpc>
              <a:buNone/>
            </a:pPr>
            <a:endParaRPr lang="en-US" sz="4800" b="1" dirty="0"/>
          </a:p>
        </p:txBody>
      </p:sp>
      <p:sp>
        <p:nvSpPr>
          <p:cNvPr id="3" name="Text 1"/>
          <p:cNvSpPr/>
          <p:nvPr/>
        </p:nvSpPr>
        <p:spPr>
          <a:xfrm>
            <a:off x="793790" y="413075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dirty="0">
              <a:solidFill>
                <a:srgbClr val="464646"/>
              </a:solidFill>
              <a:latin typeface="Inter Medium" pitchFamily="34" charset="0"/>
              <a:ea typeface="Inter Medium" pitchFamily="34" charset="-122"/>
              <a:cs typeface="Inter Medium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Using Data Mining to build accurate, explainable, and practical risk scoring for 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India's digital lending ecosystem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850191" y="5614321"/>
            <a:ext cx="2930009" cy="426244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86279" y="5614321"/>
            <a:ext cx="26578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NAME: KUNAL KUMAR DAPPU</a:t>
            </a:r>
            <a:endParaRPr lang="en-US" sz="1400" b="1" dirty="0"/>
          </a:p>
        </p:txBody>
      </p:sp>
      <p:sp>
        <p:nvSpPr>
          <p:cNvPr id="6" name="Shape 4"/>
          <p:cNvSpPr/>
          <p:nvPr/>
        </p:nvSpPr>
        <p:spPr>
          <a:xfrm>
            <a:off x="6186841" y="6285525"/>
            <a:ext cx="2256711" cy="426244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22929" y="6297195"/>
            <a:ext cx="198453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ROLL NO: 2320030167</a:t>
            </a:r>
            <a:endParaRPr lang="en-US" sz="1400" b="1" dirty="0"/>
          </a:p>
        </p:txBody>
      </p:sp>
      <p:pic>
        <p:nvPicPr>
          <p:cNvPr id="10" name="Image 8" descr="A close up of a sign  Description automatically generated">
            <a:extLst>
              <a:ext uri="{FF2B5EF4-FFF2-40B4-BE49-F238E27FC236}">
                <a16:creationId xmlns:a16="http://schemas.microsoft.com/office/drawing/2014/main" id="{F71D3829-5301-21D2-EFA3-21CC677F70D4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68880" y="298562"/>
            <a:ext cx="10073640" cy="13858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7012"/>
            <a:ext cx="70259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Introduction &amp; Motivation</a:t>
            </a:r>
            <a:endParaRPr lang="en-US" sz="4450" b="1" dirty="0">
              <a:solidFill>
                <a:srgbClr val="1C977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855952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0604" y="3082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Instant Decisions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573185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Approve/reject, set limits, and price loans in seconds — traditional underwriting can't keep up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855952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55362" y="30827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Thin-File Users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573185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Millions of Indians are new-to-credit, lacking bureau history that conventional models depend on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752618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0604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Compounding Risk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469850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Digital lenders face default risk, fraud, and rapidly shifting borrower behavior simultaneously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752618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55362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Need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469850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scoring system that is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accurate, explainable, and deployment-ready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real FinTech stacks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67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Problem Statement</a:t>
            </a:r>
            <a:endParaRPr lang="en-US" sz="4450" b="1" dirty="0">
              <a:solidFill>
                <a:srgbClr val="1C977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109192"/>
            <a:ext cx="6407944" cy="2252305"/>
          </a:xfrm>
          <a:prstGeom prst="roundRect">
            <a:avLst>
              <a:gd name="adj" fmla="val 649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3310" y="2109192"/>
            <a:ext cx="121920" cy="2252305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2524" y="23664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 Inputs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856905"/>
            <a:ext cx="580191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Applicant demographics and loan details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Limited or no bureau credit signals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Device and KYC flags (optional)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109192"/>
            <a:ext cx="6408063" cy="2252305"/>
          </a:xfrm>
          <a:prstGeom prst="roundRect">
            <a:avLst>
              <a:gd name="adj" fmla="val 649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98067" y="2109192"/>
            <a:ext cx="121920" cy="2252305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7282" y="23664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 Output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2856905"/>
            <a:ext cx="5802035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Probability of Default (PD)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Good–Bad classification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Risk band: Low / Medium / High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588312"/>
            <a:ext cx="6407944" cy="2694503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3310" y="4588312"/>
            <a:ext cx="121920" cy="2694503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2524" y="48456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Prediction Horizon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336024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DPD30+ within 90 days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a standard short-term delinquency window aligned with NBFC reporting norms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588312"/>
            <a:ext cx="6408063" cy="2694503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98067" y="4588312"/>
            <a:ext cx="121920" cy="2694503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7282" y="4845606"/>
            <a:ext cx="30079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Real-World Use Cases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336024"/>
            <a:ext cx="5802035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NBFCs and digital-first lenders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BNPL and Buy-Now-Pay-Later platforms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Salary advance and embedded finance apps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Partner bank co-lending programs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4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Project Objectives</a:t>
            </a:r>
            <a:endParaRPr lang="en-US" sz="4450" b="1" dirty="0">
              <a:solidFill>
                <a:srgbClr val="1C977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989892"/>
            <a:ext cx="6407944" cy="2774156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4270" y="2020372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27621" y="21478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2927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Baseline Model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418046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Build a Logistic Regression scorecard using WOE/IV encoding as a transparent, auditable benchmark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1989892"/>
            <a:ext cx="6408063" cy="2774156"/>
          </a:xfrm>
          <a:prstGeom prst="roundRect">
            <a:avLst>
              <a:gd name="adj" fmla="val 122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59027" y="2020372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62498" y="21478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685842" y="2927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Advanced Model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5842" y="3418046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Train XGBoost / LightGBM to capture non-linear feature interactions and outperform the baseline on PR-AUC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990862"/>
            <a:ext cx="6407944" cy="2411254"/>
          </a:xfrm>
          <a:prstGeom prst="roundRect">
            <a:avLst>
              <a:gd name="adj" fmla="val 14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4270" y="5021342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27621" y="51488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1051084" y="5928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Robust Engineering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084" y="641901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Address class imbalance and eliminate data leakage through time-based train/test splits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4990862"/>
            <a:ext cx="6408063" cy="2411254"/>
          </a:xfrm>
          <a:prstGeom prst="roundRect">
            <a:avLst>
              <a:gd name="adj" fmla="val 14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59027" y="5021342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462498" y="514885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7685842" y="5928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Explainability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85842" y="641901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Deliver per-user SHAP reason codes and global feature importance for compliance and trust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9048"/>
            <a:ext cx="58552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Literature Landscape</a:t>
            </a:r>
            <a:endParaRPr lang="en-US" sz="4450" b="1" dirty="0">
              <a:solidFill>
                <a:srgbClr val="1C9770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3078480"/>
            <a:ext cx="340162" cy="3401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906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Traditional Scoring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30906" y="3561874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Scorecards and Logistic Regression with WOE/IV remain industry standards for regulatory interpretability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1895" y="3078480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94000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ML-Based Scoring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194000" y="3561874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Random Forest, XGBoost, and LightGBM consistently outperform on tabular credit datasets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5111234"/>
            <a:ext cx="340162" cy="3401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0906" y="51042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Thin-File Solutions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530906" y="5594628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Alternative data (behavioral, device, psychometric) bridges the gap for new-to-credit borrowers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1895" y="5111234"/>
            <a:ext cx="340162" cy="3401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94000" y="5104209"/>
            <a:ext cx="36685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Explainability &amp; Monitoring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194000" y="559462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SHAP/LIME for decisions; concept drift tracking essential in rapidly evolving lending markets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54142"/>
            <a:ext cx="2734866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1C97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7498" y="829747"/>
            <a:ext cx="244744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RESEARCH GAP &amp; NOVELTY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86351"/>
            <a:ext cx="102112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Where Existing Approaches Fall Short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335292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310" y="2335292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2524" y="2592586"/>
            <a:ext cx="32435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Accuracy Is Not Enough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3083004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Standard accuracy is misleading on imbalanced default datasets. This project focuses on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PR-AUC, Recall, and KS statistic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metrics that reflect real lending economics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335292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98067" y="2335292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7282" y="2592586"/>
            <a:ext cx="39862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Leakage &amp; Temporal Integrity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7282" y="3083004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Most academic benchmarks use random splits. Production models require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time-based splits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to reflect genuine out-of-time performance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018723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3310" y="5018723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42524" y="5276017"/>
            <a:ext cx="40488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Business-Aware Thresholding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2524" y="576643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Optimal cut-off selection must balance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default capture rate against rejection volume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a tradeoff rarely addressed in published work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018723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98067" y="5018723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7282" y="5276017"/>
            <a:ext cx="29615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Explainable Decisions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77282" y="5766435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Regulators and borrowers need clear reason codes.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SHAP-driven explanations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make model outputs actionable and compliant with RBI digital lending guidelines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7146"/>
            <a:ext cx="62270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 &amp; Feature Groups</a:t>
            </a:r>
            <a:endParaRPr lang="en-US" sz="4450" b="1" dirty="0">
              <a:solidFill>
                <a:srgbClr val="1C9770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89553"/>
            <a:ext cx="1341120" cy="8287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2018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Affordability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692253"/>
            <a:ext cx="3048000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Monthly income vs. loan amount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EMI-to-income ratio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Loan purpose category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3089553"/>
            <a:ext cx="1341120" cy="828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2018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Stability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4692253"/>
            <a:ext cx="304811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Job tenure and employer type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Residential stability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 band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3089553"/>
            <a:ext cx="1341120" cy="8287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2018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Credit Behavior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4692253"/>
            <a:ext cx="304811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Score band (if available)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Active loan count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Past delinquency signals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3089553"/>
            <a:ext cx="1341120" cy="8287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2018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Digital Risk Flags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4692253"/>
            <a:ext cx="3048119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New device indicator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KYC mismatch signals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Only ethical, permitted signals used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4370"/>
            <a:ext cx="86503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Proposed Methodology Pipeline</a:t>
            </a:r>
            <a:endParaRPr lang="en-US" sz="4450" b="1" dirty="0">
              <a:solidFill>
                <a:srgbClr val="1C9770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25" y="1836777"/>
            <a:ext cx="12625030" cy="473749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84546" y="3043503"/>
            <a:ext cx="652135" cy="6521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24079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Imbalance Handling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7120" y="3044725"/>
            <a:ext cx="652135" cy="65213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03678" y="524079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Advanced Models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0307" y="3044725"/>
            <a:ext cx="652135" cy="65213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16864" y="524079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Baseline Model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23493" y="3044725"/>
            <a:ext cx="652135" cy="65213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030050" y="5424203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Feature Eng.</a:t>
            </a:r>
            <a:endParaRPr lang="en-US" sz="23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23636" y="3044725"/>
            <a:ext cx="652135" cy="65213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591065" y="5240790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 Cleaning</a:t>
            </a:r>
            <a:endParaRPr lang="en-US" sz="2300" dirty="0"/>
          </a:p>
        </p:txBody>
      </p:sp>
      <p:sp>
        <p:nvSpPr>
          <p:cNvPr id="14" name="Text 6"/>
          <p:cNvSpPr/>
          <p:nvPr/>
        </p:nvSpPr>
        <p:spPr>
          <a:xfrm>
            <a:off x="793790" y="682942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pipeline mirrors production underwriting: a clean, auditable sequence from raw data to explainable credit decisions — with no shortcuts that would compromise model integrity.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22935"/>
            <a:ext cx="8803362" cy="699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System Architecture &amp; Workflow</a:t>
            </a:r>
            <a:endParaRPr lang="en-US" sz="4400" b="1" dirty="0">
              <a:solidFill>
                <a:srgbClr val="1C977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82955" y="1652945"/>
            <a:ext cx="13064490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diagram shows the complete end-to-end system flow including data sources, model development, decision outputs (Approve/Reject/Manual Review), and monitoring loops.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595" y="2363748"/>
            <a:ext cx="10937438" cy="49946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72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Evaluation Plan</a:t>
            </a:r>
            <a:endParaRPr lang="en-US" sz="4450" b="1" dirty="0">
              <a:solidFill>
                <a:srgbClr val="1C977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001322"/>
            <a:ext cx="1138303" cy="197318"/>
          </a:xfrm>
          <a:prstGeom prst="roundRect">
            <a:avLst>
              <a:gd name="adj" fmla="val 64878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41" y="2050651"/>
            <a:ext cx="98659" cy="986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2886" y="2025986"/>
            <a:ext cx="891656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Logistic Regression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1997866" y="2001322"/>
            <a:ext cx="1188660" cy="197318"/>
          </a:xfrm>
          <a:prstGeom prst="roundRect">
            <a:avLst>
              <a:gd name="adj" fmla="val 64878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5417" y="2050651"/>
            <a:ext cx="98659" cy="986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86962" y="2025986"/>
            <a:ext cx="942013" cy="14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XGBoost / LightGBM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2280855"/>
            <a:ext cx="6248400" cy="32228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99521" y="19729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Why These Metrics?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599521" y="2554129"/>
            <a:ext cx="6244709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PR-AUC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Best measure for imbalanced default datasets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Recall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Captures true default cases; minimizes missed bad loans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KS Statistic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Industry standard for credit scorecard separation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Threshold tuning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Balances loss minimization vs. rejection rate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599521" y="5950387"/>
            <a:ext cx="6244709" cy="1326713"/>
          </a:xfrm>
          <a:prstGeom prst="roundRect">
            <a:avLst>
              <a:gd name="adj" fmla="val 2565"/>
            </a:avLst>
          </a:prstGeom>
          <a:solidFill>
            <a:srgbClr val="BEF3E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6335" y="6294477"/>
            <a:ext cx="283488" cy="2268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36637" y="6233874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Expected loss concept: </a:t>
            </a:r>
            <a:r>
              <a:rPr lang="en-US" sz="175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PD × LGD × EAD</a:t>
            </a:r>
            <a:r>
              <a:rPr lang="en-US" sz="1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ties model output to portfolio economics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5373"/>
            <a:ext cx="88018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Expected Results &amp; Deliverables</a:t>
            </a:r>
            <a:endParaRPr lang="en-US" sz="4450" b="1" dirty="0">
              <a:solidFill>
                <a:srgbClr val="1C977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197781"/>
            <a:ext cx="13042821" cy="2996446"/>
          </a:xfrm>
          <a:prstGeom prst="roundRect">
            <a:avLst>
              <a:gd name="adj" fmla="val 113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3790" y="3197781"/>
            <a:ext cx="6521410" cy="2996446"/>
          </a:xfrm>
          <a:prstGeom prst="roundRect">
            <a:avLst>
              <a:gd name="adj" fmla="val 113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0604" y="3424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Expected Results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915013"/>
            <a:ext cx="5727621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PD/risk score + risk bands (Low/Med/High)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Better PR-AUC than baseline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Top drivers (e.g., EMI/income, stability, delinquency signals)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SHAP-based "Top 5 reasons" for decision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315200" y="3197781"/>
            <a:ext cx="6521410" cy="2996446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0" y="3197781"/>
            <a:ext cx="30480" cy="2996446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82176" y="34245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Deliverables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82176" y="3915013"/>
            <a:ext cx="57276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Clean dataset + data dictionary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Model + evaluation report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Explainability report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PPT + final documentation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31712" y="4412456"/>
            <a:ext cx="566976" cy="566976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3397" y="4554141"/>
            <a:ext cx="283488" cy="2834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09374" y="1361242"/>
            <a:ext cx="9194244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Real-World Example: UPI-First FinTech Lending Scenario</a:t>
            </a:r>
            <a:endParaRPr lang="en-US" sz="2650" b="1" dirty="0">
              <a:solidFill>
                <a:srgbClr val="1C977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2609374" y="1910477"/>
            <a:ext cx="3082528" cy="2782729"/>
          </a:xfrm>
          <a:prstGeom prst="roundRect">
            <a:avLst>
              <a:gd name="adj" fmla="val 73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624614" y="1925717"/>
            <a:ext cx="3052048" cy="409099"/>
          </a:xfrm>
          <a:prstGeom prst="roundRect">
            <a:avLst>
              <a:gd name="adj" fmla="val 53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048363" y="2002393"/>
            <a:ext cx="204549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60940" y="2416731"/>
            <a:ext cx="1704975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Use Case: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60940" y="2679025"/>
            <a:ext cx="2779395" cy="349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Instant loan / BNPL approval for a user on a FinTech app (NBFC partner)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73817" y="1910477"/>
            <a:ext cx="3082528" cy="2782729"/>
          </a:xfrm>
          <a:prstGeom prst="roundRect">
            <a:avLst>
              <a:gd name="adj" fmla="val 73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789057" y="1925717"/>
            <a:ext cx="3052048" cy="409099"/>
          </a:xfrm>
          <a:prstGeom prst="roundRect">
            <a:avLst>
              <a:gd name="adj" fmla="val 53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12806" y="2002393"/>
            <a:ext cx="204549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25383" y="2416731"/>
            <a:ext cx="1968460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Sample Applicant Input: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25383" y="2679025"/>
            <a:ext cx="2779395" cy="1862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Age: 26, City tier: 2, Employment: Salaried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Monthly income: ₹32,000, Existing EMI: ₹6,500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Requested loan: ₹18,000 for 3 months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Account age: 8 months, Bureau history: thin-file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UPI behavior (summary features): high P2P volume, many new payees recently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38260" y="1910477"/>
            <a:ext cx="3082528" cy="2782729"/>
          </a:xfrm>
          <a:prstGeom prst="roundRect">
            <a:avLst>
              <a:gd name="adj" fmla="val 73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953500" y="1925717"/>
            <a:ext cx="3052048" cy="409099"/>
          </a:xfrm>
          <a:prstGeom prst="roundRect">
            <a:avLst>
              <a:gd name="adj" fmla="val 53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77249" y="2002393"/>
            <a:ext cx="204549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89827" y="2416731"/>
            <a:ext cx="1704975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 Output: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89827" y="2679025"/>
            <a:ext cx="2779395" cy="55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Predicted PD = 0.23 → Medium Risk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Decision: Approve with lower limit + higher rate / or Manual Review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09374" y="4775121"/>
            <a:ext cx="3082528" cy="2093238"/>
          </a:xfrm>
          <a:prstGeom prst="roundRect">
            <a:avLst>
              <a:gd name="adj" fmla="val 977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624614" y="4790361"/>
            <a:ext cx="3052048" cy="409099"/>
          </a:xfrm>
          <a:prstGeom prst="roundRect">
            <a:avLst>
              <a:gd name="adj" fmla="val 53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48363" y="4867037"/>
            <a:ext cx="204549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60940" y="5281374"/>
            <a:ext cx="2779395" cy="42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Top Reasons (SHAP / Reason Codes):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60940" y="5756791"/>
            <a:ext cx="2779395" cy="96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 EMI-to-income ratio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Multiple new beneficiaries in last 7 days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Short credit history / thin-file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Recent increase in transaction velocity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73817" y="4775121"/>
            <a:ext cx="3082528" cy="2093238"/>
          </a:xfrm>
          <a:prstGeom prst="roundRect">
            <a:avLst>
              <a:gd name="adj" fmla="val 977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89057" y="4790361"/>
            <a:ext cx="3052048" cy="409099"/>
          </a:xfrm>
          <a:prstGeom prst="roundRect">
            <a:avLst>
              <a:gd name="adj" fmla="val 53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212806" y="4867037"/>
            <a:ext cx="204549" cy="255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25383" y="5281374"/>
            <a:ext cx="1704975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Action Taken: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25383" y="5543669"/>
            <a:ext cx="2779395" cy="931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Reduce limit to ₹10,000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Add step-up verification (KYC/device check)</a:t>
            </a:r>
            <a:endParaRPr lang="en-US" sz="1050" dirty="0"/>
          </a:p>
          <a:p>
            <a:pPr marL="342900" indent="-342900" algn="l">
              <a:lnSpc>
                <a:spcPts val="1350"/>
              </a:lnSpc>
              <a:buSzPct val="100000"/>
              <a:buChar char="•"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Set tighter repayment reminders / autopay suggestion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1947C05E-1EEB-74EC-42AD-368EFBC84CF6}"/>
              </a:ext>
            </a:extLst>
          </p:cNvPr>
          <p:cNvSpPr/>
          <p:nvPr/>
        </p:nvSpPr>
        <p:spPr>
          <a:xfrm>
            <a:off x="3216562" y="3051125"/>
            <a:ext cx="8197275" cy="1414076"/>
          </a:xfrm>
          <a:prstGeom prst="roundRect">
            <a:avLst>
              <a:gd name="adj" fmla="val 2565"/>
            </a:avLst>
          </a:prstGeom>
          <a:solidFill>
            <a:srgbClr val="BEF3E2"/>
          </a:solidFill>
          <a:ln/>
        </p:spPr>
        <p:txBody>
          <a:bodyPr/>
          <a:lstStyle/>
          <a:p>
            <a:pPr algn="ctr"/>
            <a:r>
              <a:rPr lang="en-US" sz="72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876</Words>
  <Application>Microsoft Macintosh PowerPoint</Application>
  <PresentationFormat>Custom</PresentationFormat>
  <Paragraphs>150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Inter Medium</vt:lpstr>
      <vt:lpstr>DM Sans Semi Bold</vt:lpstr>
      <vt:lpstr>-apple-system, BlinkMacSystemFont, Segoe UI, Roboto, Helvetica Neue, Arial, sans-serif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Kunal Kumar Dappu</cp:lastModifiedBy>
  <cp:revision>3</cp:revision>
  <dcterms:created xsi:type="dcterms:W3CDTF">2026-02-21T03:31:52Z</dcterms:created>
  <dcterms:modified xsi:type="dcterms:W3CDTF">2026-02-21T04:04:38Z</dcterms:modified>
</cp:coreProperties>
</file>